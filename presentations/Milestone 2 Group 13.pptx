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96e472e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96e472e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Hey guys, we’re Skyfall-WebGPU. Just a quick reminder, our goal is to bring the Skyfall Gaussian Splatting pipeline into the browser using WebGPU. The idea is to take multi-view satellite images and pointclouds, turn them into a 3D scene made of Gaussian splats, and render that in real time on the web. In Milestone 1, we mostly focused on laying the foundation. We got the Gaussian renderer working inside our pipeline, made it dynamic on the GPU instead of static, cleaned up the preprocessing and sorting so it runs smoothly each frame, and added map-style camera controls so it’s easy to move around the scene. All of that is now going to be the visualization backbone for what we’re building in Milestone 2.</a:t>
            </a:r>
            <a:endParaRPr sz="1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118cd7b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118cd7b2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118cd7b2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118cd7b2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96c7a5f7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96c7a5f7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118cd7b2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118cd7b2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118cd7b2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118cd7b2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118cd7b2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118cd7b2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challenge concerns the data provided with the original paper. Based on our interpretation, it appears that some of the camera regularization parameters are missing. When we apply the provided camera transformations, the results are not visually correct. We have reached out to the authors for clarification and are currently waiting for their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issue is related to gradient computation. Unlike the authors, who utilized Python and libraries like PyTorch for deep learning style gradient computation, our implementation in WebGPU lacks such a autograd library. We currently have a hard-coded gradient and backward propagation implemented. This approach needs significant improvement for both better performance and generalization.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drive.google.com/file/d/1YAPhSeDfibS4RxYezzcpI343Jc5G_3J-/view" TargetMode="Externa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Skyfall-WebGPU: </a:t>
            </a:r>
            <a:r>
              <a:rPr lang="en"/>
              <a:t>Milestone 2</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Group 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Recap</a:t>
            </a:r>
            <a:endParaRPr/>
          </a:p>
        </p:txBody>
      </p:sp>
      <p:sp>
        <p:nvSpPr>
          <p:cNvPr id="74" name="Google Shape;74;p14"/>
          <p:cNvSpPr txBox="1"/>
          <p:nvPr/>
        </p:nvSpPr>
        <p:spPr>
          <a:xfrm>
            <a:off x="4298975" y="4805700"/>
            <a:ext cx="3978000" cy="2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2"/>
                </a:solidFill>
                <a:latin typeface="Roboto"/>
                <a:ea typeface="Roboto"/>
                <a:cs typeface="Roboto"/>
                <a:sym typeface="Roboto"/>
              </a:rPr>
              <a:t>Source: Skyfall-GS</a:t>
            </a:r>
            <a:endParaRPr sz="1000">
              <a:solidFill>
                <a:schemeClr val="lt2"/>
              </a:solidFill>
              <a:latin typeface="Roboto"/>
              <a:ea typeface="Roboto"/>
              <a:cs typeface="Roboto"/>
              <a:sym typeface="Roboto"/>
            </a:endParaRPr>
          </a:p>
        </p:txBody>
      </p:sp>
      <p:sp>
        <p:nvSpPr>
          <p:cNvPr id="75" name="Google Shape;75;p14"/>
          <p:cNvSpPr txBox="1"/>
          <p:nvPr/>
        </p:nvSpPr>
        <p:spPr>
          <a:xfrm>
            <a:off x="343625" y="2041225"/>
            <a:ext cx="3763800" cy="32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Recap Milestone 1:</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36550" lvl="0" marL="457200" rtl="0" algn="l">
              <a:lnSpc>
                <a:spcPct val="115000"/>
              </a:lnSpc>
              <a:spcBef>
                <a:spcPts val="0"/>
              </a:spcBef>
              <a:spcAft>
                <a:spcPts val="0"/>
              </a:spcAft>
              <a:buClr>
                <a:schemeClr val="lt2"/>
              </a:buClr>
              <a:buSzPts val="1700"/>
              <a:buFont typeface="Roboto"/>
              <a:buChar char="●"/>
            </a:pPr>
            <a:r>
              <a:rPr lang="en" sz="1700">
                <a:solidFill>
                  <a:schemeClr val="lt2"/>
                </a:solidFill>
                <a:latin typeface="Roboto"/>
                <a:ea typeface="Roboto"/>
                <a:cs typeface="Roboto"/>
                <a:sym typeface="Roboto"/>
              </a:rPr>
              <a:t>Added shared GPU buffers for live updates</a:t>
            </a:r>
            <a:endParaRPr sz="1700">
              <a:solidFill>
                <a:schemeClr val="lt2"/>
              </a:solidFill>
              <a:latin typeface="Roboto"/>
              <a:ea typeface="Roboto"/>
              <a:cs typeface="Roboto"/>
              <a:sym typeface="Roboto"/>
            </a:endParaRPr>
          </a:p>
          <a:p>
            <a:pPr indent="-336550" lvl="0" marL="457200" rtl="0" algn="l">
              <a:lnSpc>
                <a:spcPct val="115000"/>
              </a:lnSpc>
              <a:spcBef>
                <a:spcPts val="0"/>
              </a:spcBef>
              <a:spcAft>
                <a:spcPts val="0"/>
              </a:spcAft>
              <a:buClr>
                <a:schemeClr val="lt2"/>
              </a:buClr>
              <a:buSzPts val="1700"/>
              <a:buFont typeface="Roboto"/>
              <a:buChar char="●"/>
            </a:pPr>
            <a:r>
              <a:rPr lang="en" sz="1700">
                <a:solidFill>
                  <a:schemeClr val="lt2"/>
                </a:solidFill>
                <a:latin typeface="Roboto"/>
                <a:ea typeface="Roboto"/>
                <a:cs typeface="Roboto"/>
                <a:sym typeface="Roboto"/>
              </a:rPr>
              <a:t>Integrated preprocess + sort for training compatibility</a:t>
            </a:r>
            <a:endParaRPr sz="1700">
              <a:solidFill>
                <a:schemeClr val="lt2"/>
              </a:solidFill>
              <a:latin typeface="Roboto"/>
              <a:ea typeface="Roboto"/>
              <a:cs typeface="Roboto"/>
              <a:sym typeface="Roboto"/>
            </a:endParaRPr>
          </a:p>
          <a:p>
            <a:pPr indent="-336550" lvl="0" marL="457200" rtl="0" algn="l">
              <a:lnSpc>
                <a:spcPct val="115000"/>
              </a:lnSpc>
              <a:spcBef>
                <a:spcPts val="0"/>
              </a:spcBef>
              <a:spcAft>
                <a:spcPts val="0"/>
              </a:spcAft>
              <a:buClr>
                <a:schemeClr val="lt2"/>
              </a:buClr>
              <a:buSzPts val="1700"/>
              <a:buFont typeface="Roboto"/>
              <a:buChar char="●"/>
            </a:pPr>
            <a:r>
              <a:rPr lang="en" sz="1700">
                <a:solidFill>
                  <a:schemeClr val="lt2"/>
                </a:solidFill>
                <a:latin typeface="Roboto"/>
                <a:ea typeface="Roboto"/>
                <a:cs typeface="Roboto"/>
                <a:sym typeface="Roboto"/>
              </a:rPr>
              <a:t>Implemented Google Maps–style camera</a:t>
            </a:r>
            <a:endParaRPr sz="1700">
              <a:solidFill>
                <a:schemeClr val="lt2"/>
              </a:solidFill>
              <a:latin typeface="Roboto"/>
              <a:ea typeface="Roboto"/>
              <a:cs typeface="Roboto"/>
              <a:sym typeface="Roboto"/>
            </a:endParaRPr>
          </a:p>
          <a:p>
            <a:pPr indent="-336550" lvl="0" marL="457200" rtl="0" algn="l">
              <a:lnSpc>
                <a:spcPct val="115000"/>
              </a:lnSpc>
              <a:spcBef>
                <a:spcPts val="0"/>
              </a:spcBef>
              <a:spcAft>
                <a:spcPts val="0"/>
              </a:spcAft>
              <a:buClr>
                <a:schemeClr val="lt2"/>
              </a:buClr>
              <a:buSzPts val="1700"/>
              <a:buFont typeface="Roboto"/>
              <a:buChar char="●"/>
            </a:pPr>
            <a:r>
              <a:rPr lang="en" sz="1700">
                <a:solidFill>
                  <a:schemeClr val="lt2"/>
                </a:solidFill>
                <a:latin typeface="Roboto"/>
                <a:ea typeface="Roboto"/>
                <a:cs typeface="Roboto"/>
                <a:sym typeface="Roboto"/>
              </a:rPr>
              <a:t>New default camera setup (top-down view)</a:t>
            </a:r>
            <a:endParaRPr sz="1500">
              <a:solidFill>
                <a:schemeClr val="lt2"/>
              </a:solidFill>
              <a:latin typeface="Roboto"/>
              <a:ea typeface="Roboto"/>
              <a:cs typeface="Roboto"/>
              <a:sym typeface="Roboto"/>
            </a:endParaRPr>
          </a:p>
        </p:txBody>
      </p:sp>
      <p:pic>
        <p:nvPicPr>
          <p:cNvPr id="76" name="Google Shape;76;p14" title="Screenshot 2025-11-24 at 5.30.15 pm.png"/>
          <p:cNvPicPr preferRelativeResize="0"/>
          <p:nvPr/>
        </p:nvPicPr>
        <p:blipFill>
          <a:blip r:embed="rId3">
            <a:alphaModFix/>
          </a:blip>
          <a:stretch>
            <a:fillRect/>
          </a:stretch>
        </p:blipFill>
        <p:spPr>
          <a:xfrm>
            <a:off x="4298975" y="1863025"/>
            <a:ext cx="4237174" cy="2942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3DGS in WebGPU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Implementation</a:t>
            </a:r>
            <a:endParaRPr/>
          </a:p>
        </p:txBody>
      </p:sp>
      <p:pic>
        <p:nvPicPr>
          <p:cNvPr id="87" name="Google Shape;87;p16"/>
          <p:cNvPicPr preferRelativeResize="0"/>
          <p:nvPr/>
        </p:nvPicPr>
        <p:blipFill rotWithShape="1">
          <a:blip r:embed="rId3">
            <a:alphaModFix/>
          </a:blip>
          <a:srcRect b="26117" l="0" r="0" t="0"/>
          <a:stretch/>
        </p:blipFill>
        <p:spPr>
          <a:xfrm>
            <a:off x="0" y="2221860"/>
            <a:ext cx="9144003" cy="22068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Implementation</a:t>
            </a:r>
            <a:endParaRPr/>
          </a:p>
        </p:txBody>
      </p:sp>
      <p:sp>
        <p:nvSpPr>
          <p:cNvPr id="93" name="Google Shape;93;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New WebGPU compute shader for splat reconstruction from Pointcloud + Images (3DGS like, with no autograd)</a:t>
            </a:r>
            <a:endParaRPr/>
          </a:p>
          <a:p>
            <a:pPr indent="-317500" lvl="1" marL="914400" rtl="0" algn="l">
              <a:spcBef>
                <a:spcPts val="0"/>
              </a:spcBef>
              <a:spcAft>
                <a:spcPts val="0"/>
              </a:spcAft>
              <a:buSzPts val="1400"/>
              <a:buChar char="○"/>
            </a:pPr>
            <a:r>
              <a:rPr lang="en"/>
              <a:t>Including Prune + Densify shaders running at pre-defined intervals</a:t>
            </a:r>
            <a:endParaRPr/>
          </a:p>
          <a:p>
            <a:pPr indent="-342900" lvl="0" marL="457200" rtl="0" algn="l">
              <a:spcBef>
                <a:spcPts val="0"/>
              </a:spcBef>
              <a:spcAft>
                <a:spcPts val="0"/>
              </a:spcAft>
              <a:buSzPts val="1800"/>
              <a:buChar char="●"/>
            </a:pPr>
            <a:r>
              <a:rPr lang="en"/>
              <a:t>Split viewer camera and training camera</a:t>
            </a:r>
            <a:endParaRPr/>
          </a:p>
          <a:p>
            <a:pPr indent="-342900" lvl="0" marL="457200" rtl="0" algn="l">
              <a:spcBef>
                <a:spcPts val="0"/>
              </a:spcBef>
              <a:spcAft>
                <a:spcPts val="0"/>
              </a:spcAft>
              <a:buSzPts val="1800"/>
              <a:buChar char="●"/>
            </a:pPr>
            <a:r>
              <a:rPr lang="en"/>
              <a:t>Load folder instead of separate files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7" name="Shape 97"/>
        <p:cNvGrpSpPr/>
        <p:nvPr/>
      </p:nvGrpSpPr>
      <p:grpSpPr>
        <a:xfrm>
          <a:off x="0" y="0"/>
          <a:ext cx="0" cy="0"/>
          <a:chOff x="0" y="0"/>
          <a:chExt cx="0" cy="0"/>
        </a:xfrm>
      </p:grpSpPr>
      <p:sp>
        <p:nvSpPr>
          <p:cNvPr id="98" name="Google Shape;98;p18"/>
          <p:cNvSpPr txBox="1"/>
          <p:nvPr>
            <p:ph idx="4294967295" type="title"/>
          </p:nvPr>
        </p:nvSpPr>
        <p:spPr>
          <a:xfrm>
            <a:off x="460950" y="2065350"/>
            <a:ext cx="8222100" cy="101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Quick Demo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2" name="Shape 102"/>
        <p:cNvGrpSpPr/>
        <p:nvPr/>
      </p:nvGrpSpPr>
      <p:grpSpPr>
        <a:xfrm>
          <a:off x="0" y="0"/>
          <a:ext cx="0" cy="0"/>
          <a:chOff x="0" y="0"/>
          <a:chExt cx="0" cy="0"/>
        </a:xfrm>
      </p:grpSpPr>
      <p:pic>
        <p:nvPicPr>
          <p:cNvPr id="103" name="Google Shape;103;p19" title="densify_and_pruning_in_action.mp4">
            <a:hlinkClick r:id="rId3"/>
          </p:cNvPr>
          <p:cNvPicPr preferRelativeResize="0"/>
          <p:nvPr/>
        </p:nvPicPr>
        <p:blipFill>
          <a:blip r:embed="rId4">
            <a:alphaModFix/>
          </a:blip>
          <a:stretch>
            <a:fillRect/>
          </a:stretch>
        </p:blipFill>
        <p:spPr>
          <a:xfrm>
            <a:off x="421952" y="0"/>
            <a:ext cx="8300084" cy="5143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Challenges &amp; Next Steps</a:t>
            </a:r>
            <a:endParaRPr/>
          </a:p>
        </p:txBody>
      </p:sp>
      <p:sp>
        <p:nvSpPr>
          <p:cNvPr id="109" name="Google Shape;109;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Cannot reconstruct self-consistent set of camera parameters from training datasets</a:t>
            </a:r>
            <a:endParaRPr sz="2000"/>
          </a:p>
          <a:p>
            <a:pPr indent="-330200" lvl="1" marL="914400" rtl="0" algn="l">
              <a:spcBef>
                <a:spcPts val="0"/>
              </a:spcBef>
              <a:spcAft>
                <a:spcPts val="0"/>
              </a:spcAft>
              <a:buSzPts val="1600"/>
              <a:buChar char="○"/>
            </a:pPr>
            <a:r>
              <a:rPr lang="en" sz="1600"/>
              <a:t>Datasets by the authors are missing regularization parameters</a:t>
            </a:r>
            <a:endParaRPr sz="1600"/>
          </a:p>
          <a:p>
            <a:pPr indent="-330200" lvl="1" marL="914400" rtl="0" algn="l">
              <a:spcBef>
                <a:spcPts val="0"/>
              </a:spcBef>
              <a:spcAft>
                <a:spcPts val="0"/>
              </a:spcAft>
              <a:buSzPts val="1600"/>
              <a:buChar char="○"/>
            </a:pPr>
            <a:r>
              <a:rPr lang="en" sz="1600"/>
              <a:t>Reached out to the authors, waiting on response</a:t>
            </a:r>
            <a:endParaRPr sz="1600"/>
          </a:p>
          <a:p>
            <a:pPr indent="-355600" lvl="0" marL="457200" rtl="0" algn="l">
              <a:spcBef>
                <a:spcPts val="0"/>
              </a:spcBef>
              <a:spcAft>
                <a:spcPts val="0"/>
              </a:spcAft>
              <a:buSzPts val="2000"/>
              <a:buChar char="●"/>
            </a:pPr>
            <a:r>
              <a:rPr lang="en" sz="2000"/>
              <a:t>Hand derived gradients are fragile</a:t>
            </a:r>
            <a:endParaRPr sz="2000"/>
          </a:p>
          <a:p>
            <a:pPr indent="-330200" lvl="1" marL="914400" rtl="0" algn="l">
              <a:spcBef>
                <a:spcPts val="0"/>
              </a:spcBef>
              <a:spcAft>
                <a:spcPts val="0"/>
              </a:spcAft>
              <a:buSzPts val="1600"/>
              <a:buChar char="○"/>
            </a:pPr>
            <a:r>
              <a:rPr lang="en" sz="1600"/>
              <a:t>Requires parameter fine-tuning</a:t>
            </a:r>
            <a:endParaRPr sz="1600"/>
          </a:p>
          <a:p>
            <a:pPr indent="-330200" lvl="1" marL="914400" rtl="0" algn="l">
              <a:spcBef>
                <a:spcPts val="0"/>
              </a:spcBef>
              <a:spcAft>
                <a:spcPts val="0"/>
              </a:spcAft>
              <a:buSzPts val="1600"/>
              <a:buChar char="○"/>
            </a:pPr>
            <a:r>
              <a:rPr lang="en" sz="1600"/>
              <a:t>Splats don’t want to grow</a:t>
            </a:r>
            <a:endParaRPr sz="1600"/>
          </a:p>
          <a:p>
            <a:pPr indent="-330200" lvl="1" marL="914400" rtl="0" algn="l">
              <a:spcBef>
                <a:spcPts val="0"/>
              </a:spcBef>
              <a:spcAft>
                <a:spcPts val="0"/>
              </a:spcAft>
              <a:buSzPts val="1600"/>
              <a:buChar char="○"/>
            </a:pPr>
            <a:r>
              <a:rPr lang="en" sz="1600"/>
              <a:t>Higher fidelity color matching hard to achieve</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